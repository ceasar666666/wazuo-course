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83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13232"/>
            <a:ext cx="566928" cy="566928"/>
          </a:xfrm>
          <a:prstGeom prst="rect">
            <a:avLst/>
          </a:prstGeom>
          <a:solidFill>
            <a:srgbClr val="A83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AF6EC"/>
                </a:solidFill>
                <a:latin typeface="Songti SC"/>
              </a:rPr>
              <a:t>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78638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564C43"/>
                </a:solidFill>
                <a:latin typeface="Songti SC"/>
              </a:rPr>
              <a:t>小瓦韵 · 大课堂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6766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A8372A"/>
                </a:solidFill>
                <a:latin typeface="PingFang SC"/>
              </a:rPr>
              <a:t>非 遗 传 承 · 瓦 当 里 的 中 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96896"/>
            <a:ext cx="7315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5800" b="1">
                <a:solidFill>
                  <a:srgbClr val="1F1B18"/>
                </a:solidFill>
                <a:latin typeface="Songti SC"/>
              </a:rPr>
              <a:t>瓦当里的中国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840480"/>
            <a:ext cx="1097280" cy="40640"/>
          </a:xfrm>
          <a:prstGeom prst="rect">
            <a:avLst/>
          </a:prstGeom>
          <a:solidFill>
            <a:srgbClr val="A83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169663"/>
            <a:ext cx="6035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700" b="0">
                <a:solidFill>
                  <a:srgbClr val="564C43"/>
                </a:solidFill>
                <a:latin typeface="PingFang SC"/>
              </a:rPr>
              <a:t>一枚瓦当，是屋檐的护甲，</a:t>
            </a:r>
          </a:p>
          <a:p>
            <a:pPr algn="l">
              <a:lnSpc>
                <a:spcPct val="160000"/>
              </a:lnSpc>
            </a:pPr>
            <a:r>
              <a:rPr sz="1700" b="0">
                <a:solidFill>
                  <a:srgbClr val="564C43"/>
                </a:solidFill>
                <a:latin typeface="PingFang SC"/>
              </a:rPr>
              <a:t>也是古人写给天地的祝福。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607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8A7D6C"/>
                </a:solidFill>
                <a:latin typeface="PingFang SC"/>
              </a:rPr>
              <a:t>五年级 · 2 课时 · 情境体验　|　西安建筑科技大学 · 美育微课堂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4000" y="1958960"/>
            <a:ext cx="3214400" cy="3214400"/>
          </a:xfrm>
          <a:prstGeom prst="rect">
            <a:avLst/>
          </a:prstGeom>
          <a:solidFill>
            <a:srgbClr val="FAF6EC"/>
          </a:solidFill>
          <a:ln w="12700">
            <a:solidFill>
              <a:srgbClr val="D5C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ocx-pattern-3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96596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A8372A"/>
                </a:solidFill>
                <a:latin typeface="PingFang SC"/>
              </a:rPr>
              <a:t>导 入 · 5 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509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F1B18"/>
                </a:solidFill>
                <a:latin typeface="Songti SC"/>
              </a:rPr>
              <a:t>屋檐尖上，那个小圆片是什么？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26464"/>
            <a:ext cx="658368" cy="33020"/>
          </a:xfrm>
          <a:prstGeom prst="rect">
            <a:avLst/>
          </a:prstGeom>
          <a:solidFill>
            <a:srgbClr val="A83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5303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0">
                <a:solidFill>
                  <a:srgbClr val="8A7D6C"/>
                </a:solidFill>
                <a:latin typeface="PingFang SC"/>
              </a:rPr>
              <a:t>小瓦韵·大课堂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>
                <a:solidFill>
                  <a:srgbClr val="564C43"/>
                </a:solidFill>
                <a:latin typeface="PingFang SC"/>
              </a:rPr>
              <a:t>请看这张屋檐照片 —— </a:t>
            </a:r>
          </a:p>
          <a:p>
            <a:pPr algn="l">
              <a:lnSpc>
                <a:spcPct val="170000"/>
              </a:lnSpc>
            </a:pPr>
            <a:r>
              <a:rPr sz="1700" b="0">
                <a:solidFill>
                  <a:srgbClr val="564C43"/>
                </a:solidFill>
                <a:latin typeface="PingFang SC"/>
              </a:rPr>
              <a:t/>
            </a:r>
          </a:p>
          <a:p>
            <a:pPr algn="l">
              <a:lnSpc>
                <a:spcPct val="170000"/>
              </a:lnSpc>
            </a:pPr>
            <a:r>
              <a:rPr sz="1700" b="0">
                <a:solidFill>
                  <a:srgbClr val="564C43"/>
                </a:solidFill>
                <a:latin typeface="PingFang SC"/>
              </a:rPr>
              <a:t>屋檐最前端，一排圆圆的瓦片端头，</a:t>
            </a:r>
          </a:p>
          <a:p>
            <a:pPr algn="l">
              <a:lnSpc>
                <a:spcPct val="170000"/>
              </a:lnSpc>
            </a:pPr>
            <a:r>
              <a:rPr sz="1700" b="0">
                <a:solidFill>
                  <a:srgbClr val="564C43"/>
                </a:solidFill>
                <a:latin typeface="PingFang SC"/>
              </a:rPr>
              <a:t>上面刻着花纹和文字。</a:t>
            </a:r>
          </a:p>
          <a:p>
            <a:pPr algn="l">
              <a:lnSpc>
                <a:spcPct val="170000"/>
              </a:lnSpc>
            </a:pPr>
            <a:r>
              <a:rPr sz="1700" b="0">
                <a:solidFill>
                  <a:srgbClr val="564C43"/>
                </a:solidFill>
                <a:latin typeface="PingFang SC"/>
              </a:rPr>
              <a:t/>
            </a:r>
          </a:p>
          <a:p>
            <a:pPr algn="l">
              <a:lnSpc>
                <a:spcPct val="170000"/>
              </a:lnSpc>
            </a:pPr>
            <a:r>
              <a:rPr sz="1700" b="0">
                <a:solidFill>
                  <a:srgbClr val="564C43"/>
                </a:solidFill>
                <a:latin typeface="PingFang SC"/>
              </a:rPr>
              <a:t>它叫「瓦当」。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977639"/>
            <a:ext cx="5029200" cy="585216"/>
          </a:xfrm>
          <a:prstGeom prst="rect">
            <a:avLst/>
          </a:prstGeom>
          <a:solidFill>
            <a:srgbClr val="FAF6EC"/>
          </a:solidFill>
          <a:ln w="12700">
            <a:solidFill>
              <a:srgbClr val="D5C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133087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A8372A"/>
                </a:solidFill>
                <a:latin typeface="Songti SC"/>
              </a:rPr>
              <a:t>在哪里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4142231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64C43"/>
                </a:solidFill>
                <a:latin typeface="PingFang SC"/>
              </a:rPr>
              <a:t>屋檐最前端，椽头的位置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690871"/>
            <a:ext cx="5029200" cy="585216"/>
          </a:xfrm>
          <a:prstGeom prst="rect">
            <a:avLst/>
          </a:prstGeom>
          <a:solidFill>
            <a:srgbClr val="FAF6EC"/>
          </a:solidFill>
          <a:ln w="12700">
            <a:solidFill>
              <a:srgbClr val="D5C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4846319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A8372A"/>
                </a:solidFill>
                <a:latin typeface="Songti SC"/>
              </a:rPr>
              <a:t>做什么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855463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64C43"/>
                </a:solidFill>
                <a:latin typeface="PingFang SC"/>
              </a:rPr>
              <a:t>护住椽头，引导雨水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04103"/>
            <a:ext cx="5029200" cy="585216"/>
          </a:xfrm>
          <a:prstGeom prst="rect">
            <a:avLst/>
          </a:prstGeom>
          <a:solidFill>
            <a:srgbClr val="FAF6EC"/>
          </a:solidFill>
          <a:ln w="12700">
            <a:solidFill>
              <a:srgbClr val="D5C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5559551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A8372A"/>
                </a:solidFill>
                <a:latin typeface="Songti SC"/>
              </a:rPr>
              <a:t>说什么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5568695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64C43"/>
                </a:solidFill>
                <a:latin typeface="PingFang SC"/>
              </a:rPr>
              <a:t>纹样里藏着古人的祝福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1041" y="1867520"/>
            <a:ext cx="3763039" cy="3763039"/>
          </a:xfrm>
          <a:prstGeom prst="rect">
            <a:avLst/>
          </a:prstGeom>
          <a:solidFill>
            <a:srgbClr val="FAF6EC"/>
          </a:solidFill>
          <a:ln w="12700">
            <a:solidFill>
              <a:srgbClr val="D5C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ocx-pattern-0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1" y="1874520"/>
            <a:ext cx="3749039" cy="374903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03721" y="5733287"/>
            <a:ext cx="42976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>
                <a:solidFill>
                  <a:srgbClr val="8A7D6C"/>
                </a:solidFill>
                <a:latin typeface="PingFang SC"/>
              </a:rPr>
              <a:t>秦·羊角卷云纹瓦当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A8372A"/>
                </a:solidFill>
                <a:latin typeface="PingFang SC"/>
              </a:rPr>
              <a:t>新 授 一 · 认 识 构 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509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F1B18"/>
                </a:solidFill>
                <a:latin typeface="Songti SC"/>
              </a:rPr>
              <a:t>瓦当不是孤零零的小圆片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26464"/>
            <a:ext cx="658368" cy="33020"/>
          </a:xfrm>
          <a:prstGeom prst="rect">
            <a:avLst/>
          </a:prstGeom>
          <a:solidFill>
            <a:srgbClr val="A83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5303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0">
                <a:solidFill>
                  <a:srgbClr val="8A7D6C"/>
                </a:solidFill>
                <a:latin typeface="PingFang SC"/>
              </a:rPr>
              <a:t>小瓦韵·大课堂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64C43"/>
                </a:solidFill>
                <a:latin typeface="PingFang SC"/>
              </a:rPr>
              <a:t>把它放回屋顶，就能看懂它为什么长这样 —— 屋檐自上而下由这几种瓦件配合工作：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23160"/>
            <a:ext cx="2377440" cy="1737360"/>
          </a:xfrm>
          <a:prstGeom prst="rect">
            <a:avLst/>
          </a:prstGeom>
          <a:solidFill>
            <a:srgbClr val="FAF6EC"/>
          </a:solidFill>
          <a:ln w="12700">
            <a:solidFill>
              <a:srgbClr val="D5C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423160"/>
            <a:ext cx="2377440" cy="381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2697480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1F1B18"/>
                </a:solidFill>
                <a:latin typeface="Songti SC"/>
              </a:rPr>
              <a:t>板　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312724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A8372A"/>
                </a:solidFill>
                <a:latin typeface="PingFang SC"/>
              </a:rPr>
              <a:t>仰铺在下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347472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564C43"/>
                </a:solidFill>
                <a:latin typeface="PingFang SC"/>
              </a:rPr>
              <a:t>承接雨水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3008" y="2423160"/>
            <a:ext cx="2377440" cy="1737360"/>
          </a:xfrm>
          <a:prstGeom prst="rect">
            <a:avLst/>
          </a:prstGeom>
          <a:solidFill>
            <a:srgbClr val="FAF6EC"/>
          </a:solidFill>
          <a:ln w="12700">
            <a:solidFill>
              <a:srgbClr val="D5C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93008" y="2423160"/>
            <a:ext cx="2377440" cy="381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2464" y="2697480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1F1B18"/>
                </a:solidFill>
                <a:latin typeface="Songti SC"/>
              </a:rPr>
              <a:t>筒　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4" y="312724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A8372A"/>
                </a:solidFill>
                <a:latin typeface="PingFang SC"/>
              </a:rPr>
              <a:t>扣在接缝上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2464" y="347472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564C43"/>
                </a:solidFill>
                <a:latin typeface="PingFang SC"/>
              </a:rPr>
              <a:t>压缝防漏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6" y="2423160"/>
            <a:ext cx="2377440" cy="1737360"/>
          </a:xfrm>
          <a:prstGeom prst="rect">
            <a:avLst/>
          </a:prstGeom>
          <a:solidFill>
            <a:srgbClr val="FAF6EC"/>
          </a:solidFill>
          <a:ln w="12700">
            <a:solidFill>
              <a:srgbClr val="D5C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6" y="2423160"/>
            <a:ext cx="2377440" cy="38100"/>
          </a:xfrm>
          <a:prstGeom prst="rect">
            <a:avLst/>
          </a:prstGeom>
          <a:solidFill>
            <a:srgbClr val="A83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697480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1F1B18"/>
                </a:solidFill>
                <a:latin typeface="Songti SC"/>
              </a:rPr>
              <a:t>瓦　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12724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A8372A"/>
                </a:solidFill>
                <a:latin typeface="PingFang SC"/>
              </a:rPr>
              <a:t>筒瓦最前端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47472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564C43"/>
                </a:solidFill>
                <a:latin typeface="PingFang SC"/>
              </a:rPr>
              <a:t>护椽头 · 作装饰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33104" y="2423160"/>
            <a:ext cx="2377440" cy="1737360"/>
          </a:xfrm>
          <a:prstGeom prst="rect">
            <a:avLst/>
          </a:prstGeom>
          <a:solidFill>
            <a:srgbClr val="FAF6EC"/>
          </a:solidFill>
          <a:ln w="12700">
            <a:solidFill>
              <a:srgbClr val="D5C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33104" y="2423160"/>
            <a:ext cx="2377440" cy="381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2697480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1F1B18"/>
                </a:solidFill>
                <a:latin typeface="Songti SC"/>
              </a:rPr>
              <a:t>滴　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12724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A8372A"/>
                </a:solidFill>
                <a:latin typeface="PingFang SC"/>
              </a:rPr>
              <a:t>板瓦最前端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47472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564C43"/>
                </a:solidFill>
                <a:latin typeface="PingFang SC"/>
              </a:rPr>
              <a:t>把水甩离檐口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526280"/>
            <a:ext cx="10424160" cy="1371600"/>
          </a:xfrm>
          <a:prstGeom prst="rect">
            <a:avLst/>
          </a:prstGeom>
          <a:solidFill>
            <a:srgbClr val="FAF6EC"/>
          </a:solidFill>
          <a:ln w="12700">
            <a:solidFill>
              <a:srgbClr val="A83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754880"/>
            <a:ext cx="9875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50" b="0">
                <a:solidFill>
                  <a:srgbClr val="564C43"/>
                </a:solidFill>
                <a:latin typeface="PingFang SC"/>
              </a:rPr>
              <a:t>一句话记住：板瓦接水 → 筒瓦压缝 → 瓦当护头 → 滴水甩水。</a:t>
            </a:r>
          </a:p>
          <a:p>
            <a:pPr algn="l">
              <a:lnSpc>
                <a:spcPct val="160000"/>
              </a:lnSpc>
            </a:pPr>
            <a:r>
              <a:rPr sz="1550" b="0">
                <a:solidFill>
                  <a:srgbClr val="564C43"/>
                </a:solidFill>
                <a:latin typeface="PingFang SC"/>
              </a:rPr>
              <a:t>四件配合，屋顶才能把雨水完整地送下去，木头椽子才不会烂。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A8372A"/>
                </a:solidFill>
                <a:latin typeface="PingFang SC"/>
              </a:rPr>
              <a:t>新 授 二 · 纹 样 分 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509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F1B18"/>
                </a:solidFill>
                <a:latin typeface="Songti SC"/>
              </a:rPr>
              <a:t>纹样会说话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26464"/>
            <a:ext cx="658368" cy="33020"/>
          </a:xfrm>
          <a:prstGeom prst="rect">
            <a:avLst/>
          </a:prstGeom>
          <a:solidFill>
            <a:srgbClr val="A83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5303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0">
                <a:solidFill>
                  <a:srgbClr val="8A7D6C"/>
                </a:solidFill>
                <a:latin typeface="PingFang SC"/>
              </a:rPr>
              <a:t>小瓦韵·大课堂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1720" y="2050400"/>
            <a:ext cx="2300000" cy="2300000"/>
          </a:xfrm>
          <a:prstGeom prst="rect">
            <a:avLst/>
          </a:prstGeom>
          <a:solidFill>
            <a:srgbClr val="FAF6EC"/>
          </a:solidFill>
          <a:ln w="12700">
            <a:solidFill>
              <a:srgbClr val="D5C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cx-pattern-0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057400"/>
            <a:ext cx="228600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4526280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1">
                <a:solidFill>
                  <a:srgbClr val="A8372A"/>
                </a:solidFill>
                <a:latin typeface="PingFang SC"/>
              </a:rPr>
              <a:t>云纹类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64608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1F1B18"/>
                </a:solidFill>
                <a:latin typeface="Songti SC"/>
              </a:rPr>
              <a:t>秦羊角卷云纹瓦当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248656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8A7D6C"/>
                </a:solidFill>
                <a:latin typeface="PingFang SC"/>
              </a:rPr>
              <a:t>凌云之意 · 求仙升天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39320" y="2050400"/>
            <a:ext cx="2300000" cy="2300000"/>
          </a:xfrm>
          <a:prstGeom prst="rect">
            <a:avLst/>
          </a:prstGeom>
          <a:solidFill>
            <a:srgbClr val="FAF6EC"/>
          </a:solidFill>
          <a:ln w="12700">
            <a:solidFill>
              <a:srgbClr val="D5C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ocx-pattern-1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057400"/>
            <a:ext cx="2286000" cy="228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26280" y="4526280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1">
                <a:solidFill>
                  <a:srgbClr val="A8372A"/>
                </a:solidFill>
                <a:latin typeface="PingFang SC"/>
              </a:rPr>
              <a:t>莲花类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864608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1F1B18"/>
                </a:solidFill>
                <a:latin typeface="Songti SC"/>
              </a:rPr>
              <a:t>隋八瓣莲花瓦当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5248656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8A7D6C"/>
                </a:solidFill>
                <a:latin typeface="PingFang SC"/>
              </a:rPr>
              <a:t>佛门圣花 · 清净圣洁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96920" y="2050400"/>
            <a:ext cx="2300000" cy="2300000"/>
          </a:xfrm>
          <a:prstGeom prst="rect">
            <a:avLst/>
          </a:prstGeom>
          <a:solidFill>
            <a:srgbClr val="FAF6EC"/>
          </a:solidFill>
          <a:ln w="12700">
            <a:solidFill>
              <a:srgbClr val="D5C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ocx-pattern-4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2057400"/>
            <a:ext cx="2286000" cy="228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83880" y="4526280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1">
                <a:solidFill>
                  <a:srgbClr val="A8372A"/>
                </a:solidFill>
                <a:latin typeface="PingFang SC"/>
              </a:rPr>
              <a:t>文字类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4864608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1F1B18"/>
                </a:solidFill>
                <a:latin typeface="Songti SC"/>
              </a:rPr>
              <a:t>“长乐未央” 文字瓦当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5248656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8A7D6C"/>
                </a:solidFill>
                <a:latin typeface="PingFang SC"/>
              </a:rPr>
              <a:t>长久喜乐 · 永无终结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9436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564C43"/>
                </a:solidFill>
                <a:latin typeface="PingFang SC"/>
              </a:rPr>
              <a:t>看纹样先看三样：外轮 → 当心 → 主纹。再问一句：这个图案想说什么吉祥话？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A8372A"/>
                </a:solidFill>
                <a:latin typeface="PingFang SC"/>
              </a:rPr>
              <a:t>新 授 三 · 重 点 纹 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509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F1B18"/>
                </a:solidFill>
                <a:latin typeface="Songti SC"/>
              </a:rPr>
              <a:t>四神瓦当：方位的守护者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26464"/>
            <a:ext cx="658368" cy="33020"/>
          </a:xfrm>
          <a:prstGeom prst="rect">
            <a:avLst/>
          </a:prstGeom>
          <a:solidFill>
            <a:srgbClr val="A83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5303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0">
                <a:solidFill>
                  <a:srgbClr val="8A7D6C"/>
                </a:solidFill>
                <a:latin typeface="PingFang SC"/>
              </a:rPr>
              <a:t>小瓦韵·大课堂</a:t>
            </a:r>
          </a:p>
        </p:txBody>
      </p:sp>
      <p:sp>
        <p:nvSpPr>
          <p:cNvPr id="7" name="Rectangle 6"/>
          <p:cNvSpPr/>
          <p:nvPr/>
        </p:nvSpPr>
        <p:spPr>
          <a:xfrm>
            <a:off x="998840" y="2096120"/>
            <a:ext cx="1934240" cy="1934240"/>
          </a:xfrm>
          <a:prstGeom prst="rect">
            <a:avLst/>
          </a:prstGeom>
          <a:solidFill>
            <a:srgbClr val="FAF6EC"/>
          </a:solidFill>
          <a:ln w="12700">
            <a:solidFill>
              <a:srgbClr val="D5C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cx-pattern-3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1920240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4224528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100" b="1">
                <a:solidFill>
                  <a:srgbClr val="1F1B18"/>
                </a:solidFill>
                <a:latin typeface="Songti SC"/>
              </a:rPr>
              <a:t>青龙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64515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1">
                <a:solidFill>
                  <a:srgbClr val="A8372A"/>
                </a:solidFill>
                <a:latin typeface="PingFang SC"/>
              </a:rPr>
              <a:t>东 · 春 · 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2040" y="2096120"/>
            <a:ext cx="1934240" cy="1934240"/>
          </a:xfrm>
          <a:prstGeom prst="rect">
            <a:avLst/>
          </a:prstGeom>
          <a:solidFill>
            <a:srgbClr val="FAF6EC"/>
          </a:solidFill>
          <a:ln w="12700">
            <a:solidFill>
              <a:srgbClr val="D5C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ocx-pattern-3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103120"/>
            <a:ext cx="1920240" cy="1920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11880" y="4224528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100" b="1">
                <a:solidFill>
                  <a:srgbClr val="1F1B18"/>
                </a:solidFill>
                <a:latin typeface="Songti SC"/>
              </a:rPr>
              <a:t>白虎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464515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1">
                <a:solidFill>
                  <a:srgbClr val="A8372A"/>
                </a:solidFill>
                <a:latin typeface="PingFang SC"/>
              </a:rPr>
              <a:t>西 · 秋 · 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85240" y="2096120"/>
            <a:ext cx="1934240" cy="1934240"/>
          </a:xfrm>
          <a:prstGeom prst="rect">
            <a:avLst/>
          </a:prstGeom>
          <a:solidFill>
            <a:srgbClr val="FAF6EC"/>
          </a:solidFill>
          <a:ln w="12700">
            <a:solidFill>
              <a:srgbClr val="D5C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ocx-pattern-38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103120"/>
            <a:ext cx="1920240" cy="19202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5080" y="4224528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100" b="1">
                <a:solidFill>
                  <a:srgbClr val="1F1B18"/>
                </a:solidFill>
                <a:latin typeface="Songti SC"/>
              </a:rPr>
              <a:t>朱雀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64515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1">
                <a:solidFill>
                  <a:srgbClr val="A8372A"/>
                </a:solidFill>
                <a:latin typeface="PingFang SC"/>
              </a:rPr>
              <a:t>南 · 夏 · 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28440" y="2096120"/>
            <a:ext cx="1934240" cy="1934240"/>
          </a:xfrm>
          <a:prstGeom prst="rect">
            <a:avLst/>
          </a:prstGeom>
          <a:solidFill>
            <a:srgbClr val="FAF6EC"/>
          </a:solidFill>
          <a:ln w="12700">
            <a:solidFill>
              <a:srgbClr val="D5C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ocx-pattern-39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2103120"/>
            <a:ext cx="1920240" cy="19202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098280" y="4224528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100" b="1">
                <a:solidFill>
                  <a:srgbClr val="1F1B18"/>
                </a:solidFill>
                <a:latin typeface="Songti SC"/>
              </a:rPr>
              <a:t>玄武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464515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1">
                <a:solidFill>
                  <a:srgbClr val="A8372A"/>
                </a:solidFill>
                <a:latin typeface="PingFang SC"/>
              </a:rPr>
              <a:t>北 · 冬 · 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230368"/>
            <a:ext cx="10424160" cy="914400"/>
          </a:xfrm>
          <a:prstGeom prst="rect">
            <a:avLst/>
          </a:prstGeom>
          <a:solidFill>
            <a:srgbClr val="FAF6EC"/>
          </a:solidFill>
          <a:ln w="12700">
            <a:solidFill>
              <a:srgbClr val="D5C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44068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64C43"/>
                </a:solidFill>
                <a:latin typeface="PingFang SC"/>
              </a:rPr>
              <a:t>汉代把四神按方位安在宫殿四面的屋檐上，等于给整座建筑装了四个方向的「守门人」。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A8372A"/>
                </a:solidFill>
                <a:latin typeface="PingFang SC"/>
              </a:rPr>
              <a:t>活 动 · 15 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509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F1B18"/>
                </a:solidFill>
                <a:latin typeface="Songti SC"/>
              </a:rPr>
              <a:t>做一枚自己的瓦当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26464"/>
            <a:ext cx="658368" cy="33020"/>
          </a:xfrm>
          <a:prstGeom prst="rect">
            <a:avLst/>
          </a:prstGeom>
          <a:solidFill>
            <a:srgbClr val="A83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5303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0">
                <a:solidFill>
                  <a:srgbClr val="8A7D6C"/>
                </a:solidFill>
                <a:latin typeface="PingFang SC"/>
              </a:rPr>
              <a:t>小瓦韵·大课堂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6949440" cy="804672"/>
          </a:xfrm>
          <a:prstGeom prst="rect">
            <a:avLst/>
          </a:prstGeom>
          <a:solidFill>
            <a:srgbClr val="FAF6EC"/>
          </a:solidFill>
          <a:ln w="12700">
            <a:solidFill>
              <a:srgbClr val="D5C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1984248"/>
            <a:ext cx="493776" cy="493776"/>
          </a:xfrm>
          <a:prstGeom prst="rect">
            <a:avLst/>
          </a:prstGeom>
          <a:solidFill>
            <a:srgbClr val="A83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AF6EC"/>
                </a:solidFill>
                <a:latin typeface="Songti SC"/>
              </a:rPr>
              <a:t>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0784" y="195681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F1B18"/>
                </a:solidFill>
                <a:latin typeface="Songti SC"/>
              </a:rPr>
              <a:t>选纹样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00253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564C43"/>
                </a:solidFill>
                <a:latin typeface="PingFang SC"/>
              </a:rPr>
              <a:t>从纹样库里挑一枚你最喜欢的，说说它为什么吸引你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16352"/>
            <a:ext cx="6949440" cy="804672"/>
          </a:xfrm>
          <a:prstGeom prst="rect">
            <a:avLst/>
          </a:prstGeom>
          <a:solidFill>
            <a:srgbClr val="FAF6EC"/>
          </a:solidFill>
          <a:ln w="12700">
            <a:solidFill>
              <a:srgbClr val="D5C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2971800"/>
            <a:ext cx="493776" cy="493776"/>
          </a:xfrm>
          <a:prstGeom prst="rect">
            <a:avLst/>
          </a:prstGeom>
          <a:solidFill>
            <a:srgbClr val="A83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AF6EC"/>
                </a:solidFill>
                <a:latin typeface="Songti SC"/>
              </a:rPr>
              <a:t>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0784" y="2944368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F1B18"/>
                </a:solidFill>
                <a:latin typeface="Songti SC"/>
              </a:rPr>
              <a:t>读纹样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99008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564C43"/>
                </a:solidFill>
                <a:latin typeface="PingFang SC"/>
              </a:rPr>
              <a:t>找出外轮、当心、主纹，判断它属于哪一类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803904"/>
            <a:ext cx="6949440" cy="804672"/>
          </a:xfrm>
          <a:prstGeom prst="rect">
            <a:avLst/>
          </a:prstGeom>
          <a:solidFill>
            <a:srgbClr val="FAF6EC"/>
          </a:solidFill>
          <a:ln w="12700">
            <a:solidFill>
              <a:srgbClr val="D5C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3959352"/>
            <a:ext cx="493776" cy="493776"/>
          </a:xfrm>
          <a:prstGeom prst="rect">
            <a:avLst/>
          </a:prstGeom>
          <a:solidFill>
            <a:srgbClr val="A83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AF6EC"/>
                </a:solidFill>
                <a:latin typeface="Songti SC"/>
              </a:rPr>
              <a:t>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F1B18"/>
                </a:solidFill>
                <a:latin typeface="Songti SC"/>
              </a:rPr>
              <a:t>上色彩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9776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564C43"/>
                </a:solidFill>
                <a:latin typeface="PingFang SC"/>
              </a:rPr>
              <a:t>在平台「瓦当纹样涂彩」里点击分区上色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791456"/>
            <a:ext cx="6949440" cy="804672"/>
          </a:xfrm>
          <a:prstGeom prst="rect">
            <a:avLst/>
          </a:prstGeom>
          <a:solidFill>
            <a:srgbClr val="FAF6EC"/>
          </a:solidFill>
          <a:ln w="12700">
            <a:solidFill>
              <a:srgbClr val="D5C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" y="4946904"/>
            <a:ext cx="493776" cy="493776"/>
          </a:xfrm>
          <a:prstGeom prst="rect">
            <a:avLst/>
          </a:prstGeom>
          <a:solidFill>
            <a:srgbClr val="A83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AF6EC"/>
                </a:solidFill>
                <a:latin typeface="Songti SC"/>
              </a:rPr>
              <a:t>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0784" y="4919472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F1B18"/>
                </a:solidFill>
                <a:latin typeface="Songti SC"/>
              </a:rPr>
              <a:t>讲纹样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9651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564C43"/>
                </a:solidFill>
                <a:latin typeface="PingFang SC"/>
              </a:rPr>
              <a:t>用一句话说明：我这枚瓦当想送出什么祝福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828800"/>
            <a:ext cx="3200400" cy="3931920"/>
          </a:xfrm>
          <a:prstGeom prst="rect">
            <a:avLst/>
          </a:prstGeom>
          <a:solidFill>
            <a:srgbClr val="FAF6EC"/>
          </a:solidFill>
          <a:ln w="12700">
            <a:solidFill>
              <a:srgbClr val="A83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084831"/>
            <a:ext cx="2651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A8372A"/>
                </a:solidFill>
                <a:latin typeface="Songti SC"/>
              </a:rPr>
              <a:t>评价要点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542032"/>
            <a:ext cx="26517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564C43"/>
                </a:solidFill>
                <a:latin typeface="PingFang SC"/>
              </a:rPr>
              <a:t>观察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564C43"/>
                </a:solidFill>
                <a:latin typeface="PingFang SC"/>
              </a:rPr>
              <a:t>能说出位置、形态、细节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564C43"/>
                </a:solidFill>
                <a:latin typeface="PingFang SC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564C43"/>
                </a:solidFill>
                <a:latin typeface="PingFang SC"/>
              </a:rPr>
              <a:t>表达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564C43"/>
                </a:solidFill>
                <a:latin typeface="PingFang SC"/>
              </a:rPr>
              <a:t>判断有依据，能举证据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564C43"/>
                </a:solidFill>
                <a:latin typeface="PingFang SC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564C43"/>
                </a:solidFill>
                <a:latin typeface="PingFang SC"/>
              </a:rPr>
              <a:t>创作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564C43"/>
                </a:solidFill>
                <a:latin typeface="PingFang SC"/>
              </a:rPr>
              <a:t>纹样完整，配色有出处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564C43"/>
                </a:solidFill>
                <a:latin typeface="PingFang SC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564C43"/>
                </a:solidFill>
                <a:latin typeface="PingFang SC"/>
              </a:rPr>
              <a:t>合作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564C43"/>
                </a:solidFill>
                <a:latin typeface="PingFang SC"/>
              </a:rPr>
              <a:t>愿意倾听同伴的判断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A8372A"/>
                </a:solidFill>
                <a:latin typeface="PingFang SC"/>
              </a:rPr>
              <a:t>小 结 · 5 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509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F1B18"/>
                </a:solidFill>
                <a:latin typeface="Songti SC"/>
              </a:rPr>
              <a:t>一枚瓦当，三重身份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26464"/>
            <a:ext cx="658368" cy="33020"/>
          </a:xfrm>
          <a:prstGeom prst="rect">
            <a:avLst/>
          </a:prstGeom>
          <a:solidFill>
            <a:srgbClr val="A83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5303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0">
                <a:solidFill>
                  <a:srgbClr val="8A7D6C"/>
                </a:solidFill>
                <a:latin typeface="PingFang SC"/>
              </a:rPr>
              <a:t>小瓦韵·大课堂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011680"/>
            <a:ext cx="3291840" cy="2286000"/>
          </a:xfrm>
          <a:prstGeom prst="rect">
            <a:avLst/>
          </a:prstGeom>
          <a:solidFill>
            <a:srgbClr val="FAF6EC"/>
          </a:solidFill>
          <a:ln w="12700">
            <a:solidFill>
              <a:srgbClr val="D5C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011680"/>
            <a:ext cx="3291840" cy="50800"/>
          </a:xfrm>
          <a:prstGeom prst="rect">
            <a:avLst/>
          </a:prstGeom>
          <a:solidFill>
            <a:srgbClr val="3E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95728"/>
            <a:ext cx="2743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3E6B7C"/>
                </a:solidFill>
                <a:latin typeface="Songti SC"/>
              </a:rPr>
              <a:t>构 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564C43"/>
                </a:solidFill>
                <a:latin typeface="PingFang SC"/>
              </a:rPr>
              <a:t>它是屋顶系统里负责护椽头、挡风雨的实用构件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7408" y="2011680"/>
            <a:ext cx="3291840" cy="2286000"/>
          </a:xfrm>
          <a:prstGeom prst="rect">
            <a:avLst/>
          </a:prstGeom>
          <a:solidFill>
            <a:srgbClr val="FAF6EC"/>
          </a:solidFill>
          <a:ln w="12700">
            <a:solidFill>
              <a:srgbClr val="D5C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2011680"/>
            <a:ext cx="3291840" cy="508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2395728"/>
            <a:ext cx="2743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B08D57"/>
                </a:solidFill>
                <a:latin typeface="Songti SC"/>
              </a:rPr>
              <a:t>图 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3017520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564C43"/>
                </a:solidFill>
                <a:latin typeface="PingFang SC"/>
              </a:rPr>
              <a:t>它用云、莲、兽、字，把古人的审美刻在屋檐上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1856" y="2011680"/>
            <a:ext cx="3291840" cy="2286000"/>
          </a:xfrm>
          <a:prstGeom prst="rect">
            <a:avLst/>
          </a:prstGeom>
          <a:solidFill>
            <a:srgbClr val="FAF6EC"/>
          </a:solidFill>
          <a:ln w="12700">
            <a:solidFill>
              <a:srgbClr val="D5C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1856" y="2011680"/>
            <a:ext cx="3291840" cy="50800"/>
          </a:xfrm>
          <a:prstGeom prst="rect">
            <a:avLst/>
          </a:prstGeom>
          <a:solidFill>
            <a:srgbClr val="A83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2395728"/>
            <a:ext cx="2743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A8372A"/>
                </a:solidFill>
                <a:latin typeface="Songti SC"/>
              </a:rPr>
              <a:t>祝 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3017520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564C43"/>
                </a:solidFill>
                <a:latin typeface="PingFang SC"/>
              </a:rPr>
              <a:t>它承载着对平安、长乐、吉祥的真切愿望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5488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>
                <a:solidFill>
                  <a:srgbClr val="1F1B18"/>
                </a:solidFill>
                <a:latin typeface="Songti SC"/>
              </a:rPr>
              <a:t>下次再抬头看老房子的屋檐，你就不只是看见一排瓦 ——</a:t>
            </a:r>
          </a:p>
          <a:p>
            <a:pPr algn="l">
              <a:lnSpc>
                <a:spcPct val="170000"/>
              </a:lnSpc>
            </a:pPr>
            <a:r>
              <a:rPr sz="1700" b="0">
                <a:solidFill>
                  <a:srgbClr val="1F1B18"/>
                </a:solidFill>
                <a:latin typeface="Songti SC"/>
              </a:rPr>
              <a:t>你会看见它在护着这座房子，也在替古人说一句吉祥话。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A8372A"/>
                </a:solidFill>
                <a:latin typeface="PingFang SC"/>
              </a:rPr>
              <a:t>作 业 与 延 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509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F1B18"/>
                </a:solidFill>
                <a:latin typeface="Songti SC"/>
              </a:rPr>
              <a:t>把屋檐带回家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26464"/>
            <a:ext cx="658368" cy="33020"/>
          </a:xfrm>
          <a:prstGeom prst="rect">
            <a:avLst/>
          </a:prstGeom>
          <a:solidFill>
            <a:srgbClr val="A83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5303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0">
                <a:solidFill>
                  <a:srgbClr val="8A7D6C"/>
                </a:solidFill>
                <a:latin typeface="PingFang SC"/>
              </a:rPr>
              <a:t>小瓦韵·大课堂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10424160" cy="749808"/>
          </a:xfrm>
          <a:prstGeom prst="rect">
            <a:avLst/>
          </a:prstGeom>
          <a:solidFill>
            <a:srgbClr val="FAF6EC"/>
          </a:solidFill>
          <a:ln w="12700">
            <a:solidFill>
              <a:srgbClr val="D5C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920240"/>
            <a:ext cx="44450" cy="749808"/>
          </a:xfrm>
          <a:prstGeom prst="rect">
            <a:avLst/>
          </a:prstGeom>
          <a:solidFill>
            <a:srgbClr val="A83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A8372A"/>
                </a:solidFill>
                <a:latin typeface="Songti SC"/>
              </a:rPr>
              <a:t>基础作业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048256"/>
            <a:ext cx="8046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564C43"/>
                </a:solidFill>
                <a:latin typeface="PingFang SC"/>
              </a:rPr>
              <a:t>在平台「纹样库」中自选三枚瓦当，按类别归档，各写一句寓意说明。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52928"/>
            <a:ext cx="10424160" cy="749808"/>
          </a:xfrm>
          <a:prstGeom prst="rect">
            <a:avLst/>
          </a:prstGeom>
          <a:solidFill>
            <a:srgbClr val="FAF6EC"/>
          </a:solidFill>
          <a:ln w="12700">
            <a:solidFill>
              <a:srgbClr val="D5C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852928"/>
            <a:ext cx="44450" cy="749808"/>
          </a:xfrm>
          <a:prstGeom prst="rect">
            <a:avLst/>
          </a:prstGeom>
          <a:solidFill>
            <a:srgbClr val="A83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944368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A8372A"/>
                </a:solidFill>
                <a:latin typeface="Songti SC"/>
              </a:rPr>
              <a:t>动手作业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80944"/>
            <a:ext cx="8046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564C43"/>
                </a:solidFill>
                <a:latin typeface="PingFang SC"/>
              </a:rPr>
              <a:t>用「瓦当纹样涂彩」完成一枚配色，说明为什么这样配色。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785616"/>
            <a:ext cx="10424160" cy="749808"/>
          </a:xfrm>
          <a:prstGeom prst="rect">
            <a:avLst/>
          </a:prstGeom>
          <a:solidFill>
            <a:srgbClr val="FAF6EC"/>
          </a:solidFill>
          <a:ln w="12700">
            <a:solidFill>
              <a:srgbClr val="D5C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785616"/>
            <a:ext cx="44450" cy="749808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77056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A6B36"/>
                </a:solidFill>
                <a:latin typeface="Songti SC"/>
              </a:rPr>
              <a:t>观察作业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913632"/>
            <a:ext cx="8046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564C43"/>
                </a:solidFill>
                <a:latin typeface="PingFang SC"/>
              </a:rPr>
              <a:t>找一处身边的老建筑，拍下它的屋檐，指出瓦当在哪里。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718304"/>
            <a:ext cx="10424160" cy="749808"/>
          </a:xfrm>
          <a:prstGeom prst="rect">
            <a:avLst/>
          </a:prstGeom>
          <a:solidFill>
            <a:srgbClr val="FAF6EC"/>
          </a:solidFill>
          <a:ln w="12700">
            <a:solidFill>
              <a:srgbClr val="D5C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718304"/>
            <a:ext cx="44450" cy="749808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809744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A6B36"/>
                </a:solidFill>
                <a:latin typeface="Songti SC"/>
              </a:rPr>
              <a:t>拓展阅读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846320"/>
            <a:ext cx="8046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564C43"/>
                </a:solidFill>
                <a:latin typeface="PingFang SC"/>
              </a:rPr>
              <a:t>了解陕西秦砖汉瓦博物馆与汉长安城遗址的瓦当收藏。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59552" y="5669280"/>
            <a:ext cx="512064" cy="512064"/>
          </a:xfrm>
          <a:prstGeom prst="rect">
            <a:avLst/>
          </a:prstGeom>
          <a:solidFill>
            <a:srgbClr val="A83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AF6EC"/>
                </a:solidFill>
                <a:latin typeface="Songti SC"/>
              </a:rPr>
              <a:t>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32764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>
                <a:solidFill>
                  <a:srgbClr val="8A7D6C"/>
                </a:solidFill>
                <a:latin typeface="PingFang SC"/>
              </a:rPr>
              <a:t>小瓦韵 · 大课堂　|　瓦当非遗通识互动课堂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